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709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55448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219456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283464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347472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09728" y="411480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75488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kern="0" spc="60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CINE</a:t>
            </a:r>
            <a:r>
              <a:rPr lang="en-US" sz="7200" b="1" kern="0" spc="600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Movie Recommendation System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E8C547">
              <a:alpha val="60000"/>
            </a:srgbClr>
          </a:solidFill>
          <a:ln w="12700">
            <a:solidFill>
              <a:srgbClr val="E8C547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26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 C#  ·  Windows Forms  ·  ADO.NET  ·  MySQL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332" y="3566160"/>
            <a:ext cx="1776248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Courier New" pitchFamily="34" charset="0"/>
                <a:cs typeface="Courier New" pitchFamily="34" charset="-120"/>
              </a:rPr>
              <a:t>ARYAMA SHARMA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Courier New" pitchFamily="34" charset="0"/>
                <a:cs typeface="Courier New" pitchFamily="34" charset="-120"/>
              </a:rPr>
              <a:t>24215149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Courier New" pitchFamily="34" charset="0"/>
                <a:cs typeface="Courier New" pitchFamily="34" charset="-120"/>
              </a:rPr>
              <a:t>4BCA-B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4663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CHRIST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CineMatch?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CineMatch is a desktop Windows Forms application that recommends movies to users based on their taste profile. It uses a 5-factor hybrid recommendation engine backed by a MySQL database and built entirely in C# using ADO.NET.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1828800"/>
          </a:xfrm>
          <a:prstGeom prst="rect">
            <a:avLst/>
          </a:prstGeom>
          <a:solidFill>
            <a:srgbClr val="111119"/>
          </a:solidFill>
          <a:ln w="1524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6400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Auth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&amp; login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MySQL-backed credentials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331720"/>
            <a:ext cx="2651760" cy="1828800"/>
          </a:xfrm>
          <a:prstGeom prst="rect">
            <a:avLst/>
          </a:prstGeom>
          <a:solidFill>
            <a:srgbClr val="111119"/>
          </a:solidFill>
          <a:ln w="1524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2331720"/>
            <a:ext cx="2651760" cy="64008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E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Recs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37560" y="29077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5-factor hybrid engine: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· rating · trending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331720"/>
            <a:ext cx="2651760" cy="1828800"/>
          </a:xfrm>
          <a:prstGeom prst="rect">
            <a:avLst/>
          </a:prstGeom>
          <a:solidFill>
            <a:srgbClr val="111119"/>
          </a:solidFill>
          <a:ln w="1524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2331720"/>
            <a:ext cx="2651760" cy="64008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4871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A0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Ratings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72200" y="2907792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movies with stars,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DB instantly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3-Layer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417320"/>
            <a:ext cx="6400800" cy="804672"/>
          </a:xfrm>
          <a:prstGeom prst="rect">
            <a:avLst/>
          </a:prstGeom>
          <a:solidFill>
            <a:srgbClr val="111119"/>
          </a:solidFill>
          <a:ln w="1905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417320"/>
            <a:ext cx="82296" cy="804672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463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00200" y="17647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FormLogin.cs  ·  FormMain.cs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Controls &amp; Events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2221992"/>
            <a:ext cx="0" cy="256032"/>
          </a:xfrm>
          <a:prstGeom prst="line">
            <a:avLst/>
          </a:prstGeom>
          <a:noFill/>
          <a:ln w="25400">
            <a:solidFill>
              <a:srgbClr val="E8C547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514600"/>
            <a:ext cx="6400800" cy="804672"/>
          </a:xfrm>
          <a:prstGeom prst="rect">
            <a:avLst/>
          </a:prstGeom>
          <a:solidFill>
            <a:srgbClr val="111119"/>
          </a:solidFill>
          <a:ln w="1905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2514600"/>
            <a:ext cx="82296" cy="804672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00200" y="2560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2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ACCESS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00200" y="28620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DataService.cs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ADO.NET · MySqlCommand · MySqlDataReader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3319272"/>
            <a:ext cx="0" cy="256032"/>
          </a:xfrm>
          <a:prstGeom prst="line">
            <a:avLst/>
          </a:prstGeom>
          <a:noFill/>
          <a:ln w="25400">
            <a:solidFill>
              <a:srgbClr val="E8C547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3611880"/>
            <a:ext cx="6400800" cy="804672"/>
          </a:xfrm>
          <a:prstGeom prst="rect">
            <a:avLst/>
          </a:prstGeom>
          <a:solidFill>
            <a:srgbClr val="111119"/>
          </a:solidFill>
          <a:ln w="1905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71600" y="3611880"/>
            <a:ext cx="82296" cy="804672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36576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2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95935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— cinematch DB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Movies · Ratings · Stored Procs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Schema — cinematch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788920" cy="3474720"/>
          </a:xfrm>
          <a:prstGeom prst="rect">
            <a:avLst/>
          </a:prstGeom>
          <a:solidFill>
            <a:srgbClr val="111119"/>
          </a:solidFill>
          <a:ln w="1524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788920" cy="38404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8328" y="1874520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PK  AUTO_INCREMENT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full_name  VARCHAR(100)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VARCHAR(150)  UNIQUE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 VARCHAR(50)  UNIQUE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 VARCHAR(255)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dob  DATE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fav_genre  VARCHAR(50)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joined_at  DATETIME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788920" cy="3474720"/>
          </a:xfrm>
          <a:prstGeom prst="rect">
            <a:avLst/>
          </a:prstGeom>
          <a:solidFill>
            <a:srgbClr val="111119"/>
          </a:solidFill>
          <a:ln w="1524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788920" cy="384048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10128" y="1874520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movie_id  PK  AUTO_INCREMENT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 VARCHAR(200)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release_year  INT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  VARCHAR(100)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  VARCHAR(200)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moods  VARCHAR(200)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rating_avg  DECIMAL(3,1)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trending  INT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72200" y="1417320"/>
            <a:ext cx="2788920" cy="3474720"/>
          </a:xfrm>
          <a:prstGeom prst="rect">
            <a:avLst/>
          </a:prstGeom>
          <a:solidFill>
            <a:srgbClr val="111119"/>
          </a:solidFill>
          <a:ln w="1524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17320"/>
            <a:ext cx="2788920" cy="384048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41732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81928" y="1874520"/>
            <a:ext cx="260604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rating_id  PK  AUTO_INCREMENT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FK → Users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movie_id  FK → Movies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stars  INT  (1–5)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rated_at  DATETIME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UNIQUE(user_id, movie_id)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JOIN: Ratings.user_id → Users.user_id  ·  Ratings.movie_id → Movies.movie_id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ADO.NET CONCEPTS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Integration — Unit 3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27432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MySqlConnection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90195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TCP pipe to MySQL.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query needs 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44475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444752"/>
            <a:ext cx="2743200" cy="54864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MySqlCommand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46704" y="190195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Wraps SQL + parameters.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SQL injection via @p.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44475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444752"/>
            <a:ext cx="2743200" cy="54864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1072" y="1554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MySqlDataReader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91072" y="190195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architecture.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rows one by one.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8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99232"/>
            <a:ext cx="2743200" cy="54864"/>
          </a:xfrm>
          <a:prstGeom prst="rect">
            <a:avLst/>
          </a:prstGeom>
          <a:solidFill>
            <a:srgbClr val="52E88E"/>
          </a:solidFill>
          <a:ln w="12700">
            <a:solidFill>
              <a:srgbClr val="52E8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E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ExecuteNonQuery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" y="34564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INSERT / UPDATE.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 rows affected.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299923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2999232"/>
            <a:ext cx="274320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 Procedure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46704" y="34564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sp_GetRecommendations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sp_GetUserProfile in MySQL.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2999232"/>
            <a:ext cx="2743200" cy="132588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2999232"/>
            <a:ext cx="2743200" cy="54864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DUPLICATE KEY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456432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Upsert pattern for ratings.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or update in one SQL.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5-Factor Hybrid Algorithm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sp_GetRecommendations — MySQL Stored Procedure returns 3 result sets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502920"/>
          </a:xfrm>
          <a:prstGeom prst="rect">
            <a:avLst/>
          </a:prstGeom>
          <a:solidFill>
            <a:srgbClr val="111119"/>
          </a:solidFill>
          <a:ln w="10160">
            <a:solidFill>
              <a:srgbClr val="E8C547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56232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1965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Match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29968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 matching user's favourite genre not yet rated. Uses FIND_IN_SET().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8412480" cy="502920"/>
          </a:xfrm>
          <a:prstGeom prst="rect">
            <a:avLst/>
          </a:prstGeom>
          <a:solidFill>
            <a:srgbClr val="111119"/>
          </a:solidFill>
          <a:ln w="10160">
            <a:solidFill>
              <a:srgbClr val="52E8D6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688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43230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642616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Highest rating_avg movies the user hasn't seen yet. ORDER BY rating_avg DESC.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8412480" cy="502920"/>
          </a:xfrm>
          <a:prstGeom prst="rect">
            <a:avLst/>
          </a:prstGeom>
          <a:solidFill>
            <a:srgbClr val="111119"/>
          </a:solidFill>
          <a:ln w="10160">
            <a:solidFill>
              <a:srgbClr val="52A0E8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815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A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044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255264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Movies with highest trending score not yet rated. ORDER BY trending DESC.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21024"/>
            <a:ext cx="8412480" cy="502920"/>
          </a:xfrm>
          <a:prstGeom prst="rect">
            <a:avLst/>
          </a:prstGeom>
          <a:solidFill>
            <a:srgbClr val="111119"/>
          </a:solidFill>
          <a:ln w="10160">
            <a:solidFill>
              <a:srgbClr val="52E88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694176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2E8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657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 Group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867912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expression computes Teen/Young Adult/Adult/Senior from DOB.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233672"/>
            <a:ext cx="8412480" cy="502920"/>
          </a:xfrm>
          <a:prstGeom prst="rect">
            <a:avLst/>
          </a:prstGeom>
          <a:solidFill>
            <a:srgbClr val="111119"/>
          </a:solidFill>
          <a:ln w="10160">
            <a:solidFill>
              <a:srgbClr val="E8C547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3068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42702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History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4480560"/>
            <a:ext cx="7406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Excludes already-rated movies using NOT IN (SELECT movie_id FROM Ratings).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 FEATURES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4206240" cy="1600200"/>
          </a:xfrm>
          <a:prstGeom prst="rect">
            <a:avLst/>
          </a:prstGeom>
          <a:solidFill>
            <a:srgbClr val="111119"/>
          </a:solidFill>
          <a:ln w="1270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420624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837944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Username + password authentication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user registration with DOB &amp; favourite genre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key shortcut, error messages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accounts: arjun / priya / rahul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4206240" cy="16002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17320"/>
            <a:ext cx="4206240" cy="54864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087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E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 Page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37944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stats: total films, ratings, users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button → calls sp_GetRecommendations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sections: Genre · Top Rated · Trending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Movie cards with star rating buttons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3246120"/>
            <a:ext cx="4206240" cy="16002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246120"/>
            <a:ext cx="4206240" cy="54864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A0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Library Page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666744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24+ movies from MySQL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search (filters on every keystroke)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genre, mood, sort order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any movie — saves instantly to DB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246120"/>
            <a:ext cx="4206240" cy="16002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8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246120"/>
            <a:ext cx="4206240" cy="54864"/>
          </a:xfrm>
          <a:prstGeom prst="rect">
            <a:avLst/>
          </a:prstGeom>
          <a:solidFill>
            <a:srgbClr val="52E88E"/>
          </a:solidFill>
          <a:ln w="12700">
            <a:solidFill>
              <a:srgbClr val="52E8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3375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E8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Profile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666744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sp_GetUserProfile stored procedure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age group, average rating, join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Genre taste map with progress bars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rating history (JOIN query)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SYLLABUS COVERAGE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BCA 301-4 Course Outcomes Achieved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822960" cy="566928"/>
          </a:xfrm>
          <a:prstGeom prst="rect">
            <a:avLst/>
          </a:prstGeom>
          <a:solidFill>
            <a:srgbClr val="E8C547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1453896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097280" y="1417320"/>
            <a:ext cx="2377440" cy="566928"/>
          </a:xfrm>
          <a:prstGeom prst="rect">
            <a:avLst/>
          </a:prstGeom>
          <a:solidFill>
            <a:srgbClr val="E8C547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70432" y="1453896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4937760" cy="566928"/>
          </a:xfrm>
          <a:prstGeom prst="rect">
            <a:avLst/>
          </a:prstGeom>
          <a:solidFill>
            <a:srgbClr val="E8C547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93592" y="1453896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CineMatch Covers 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984248"/>
            <a:ext cx="8229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2020824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97280" y="1984248"/>
            <a:ext cx="237744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020824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 &amp; Event-Driven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984248"/>
            <a:ext cx="49377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3592" y="2020824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FormLogin + FormMain built fully in code.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 clicks, TextChanged, Tab switching — all event handlers.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551176"/>
            <a:ext cx="82296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2587752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97280" y="2551176"/>
            <a:ext cx="237744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2587752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ADO.NET Database Integration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 &amp; Disconnected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520440" y="2551176"/>
            <a:ext cx="493776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93592" y="2587752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MySqlConnection, MySqlCommand, ExecuteReader (connected).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queries on Ratings × Movies tables.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3118104"/>
            <a:ext cx="8229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3154680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7280" y="3118104"/>
            <a:ext cx="237744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3154680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CRUD Operations with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Server / MySQL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20440" y="3118104"/>
            <a:ext cx="49377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93592" y="3154680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 = INSERT, Login = SELECT,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= INSERT ON DUPLICATE KEY UPDATE.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685032"/>
            <a:ext cx="82296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3721608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3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97280" y="3685032"/>
            <a:ext cx="237744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3721608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Procedures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20440" y="3685032"/>
            <a:ext cx="4937760" cy="566928"/>
          </a:xfrm>
          <a:prstGeom prst="rect">
            <a:avLst/>
          </a:prstGeom>
          <a:solidFill>
            <a:srgbClr val="111119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3721608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sp_GetUserProfile and sp_GetRecommendations called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via CommandType.StoredProcedure.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4251960"/>
            <a:ext cx="8229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4288536"/>
            <a:ext cx="7132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Unit 5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097280" y="4251960"/>
            <a:ext cx="237744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4288536"/>
            <a:ext cx="22677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Project 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Application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520440" y="4251960"/>
            <a:ext cx="4937760" cy="566928"/>
          </a:xfrm>
          <a:prstGeom prst="rect">
            <a:avLst/>
          </a:prstGeom>
          <a:solidFill>
            <a:srgbClr val="0D0D18"/>
          </a:solidFill>
          <a:ln w="635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93592" y="4288536"/>
            <a:ext cx="48280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mini-project: auth + library + recommendations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profile — aligned with SDG entertainment access.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119"/>
          </a:solidFill>
          <a:ln w="12700">
            <a:solidFill>
              <a:srgbClr val="1111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73152" cy="13716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.NET 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0848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Forms, event handlers,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design, ADO.NET calls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444752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444752"/>
            <a:ext cx="73152" cy="1371600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01568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E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01568" y="18470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1568" y="20848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TabControl, FlowLayoutPanel,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Panel, TextBox, custom drawing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1444752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A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444752"/>
            <a:ext cx="73152" cy="1371600"/>
          </a:xfrm>
          <a:prstGeom prst="rect">
            <a:avLst/>
          </a:prstGeom>
          <a:solidFill>
            <a:srgbClr val="52A0E8"/>
          </a:solidFill>
          <a:ln w="12700">
            <a:solidFill>
              <a:srgbClr val="52A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A0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ADO.NET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5936" y="184708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Access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5936" y="20848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MySqlConnection, MySqlCommand,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MySqlDataReader, DataTable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8E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73152" cy="1371600"/>
          </a:xfrm>
          <a:prstGeom prst="rect">
            <a:avLst/>
          </a:prstGeom>
          <a:solidFill>
            <a:srgbClr val="52E88E"/>
          </a:solidFill>
          <a:ln w="12700">
            <a:solidFill>
              <a:srgbClr val="52E8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E8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tables, 2 stored procedures,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FOREIGN KEY constraints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18688" y="3017520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E8C54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18688" y="3017520"/>
            <a:ext cx="73152" cy="13716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Workbench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01568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Management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01568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Schema design, seeding data,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&amp; testing SQL queries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63056" y="3017520"/>
            <a:ext cx="2743200" cy="1371600"/>
          </a:xfrm>
          <a:prstGeom prst="rect">
            <a:avLst/>
          </a:prstGeom>
          <a:solidFill>
            <a:srgbClr val="111119"/>
          </a:solidFill>
          <a:ln w="12700">
            <a:solidFill>
              <a:srgbClr val="52E8D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63056" y="3017520"/>
            <a:ext cx="73152" cy="1371600"/>
          </a:xfrm>
          <a:prstGeom prst="rect">
            <a:avLst/>
          </a:prstGeom>
          <a:solidFill>
            <a:srgbClr val="52E8D6"/>
          </a:solidFill>
          <a:ln w="12700">
            <a:solidFill>
              <a:srgbClr val="52E8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2E8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Studio 2022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45936" y="3419856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45936" y="36576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editing, debugging,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NuGet package manager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27432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91440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155448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" y="219456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283464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" y="347472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411480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" y="4754880"/>
            <a:ext cx="9034272" cy="0"/>
          </a:xfrm>
          <a:prstGeom prst="line">
            <a:avLst/>
          </a:prstGeom>
          <a:noFill/>
          <a:ln w="3810">
            <a:solidFill>
              <a:srgbClr val="E8C547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Learnings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EE8D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CineMatch Demonstrates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91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1719072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ADO.NET integration — connected architecture with MySqlDataReader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8541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2128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procedures called directly from C# using CommandType.StoredProcedure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679192"/>
            <a:ext cx="329184" cy="32918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791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2706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Event-driven Windows Forms — every interaction is an event handler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72968"/>
            <a:ext cx="329184" cy="32918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72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2004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Separation of Concerns — UI (Forms), Logic (DataService), Data (MySQL)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66744"/>
            <a:ext cx="329184" cy="32918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6667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090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3694176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90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CRUD — Register, Login, Rate, Profile all hit the database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389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C5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921</Words>
  <Application>Microsoft Office PowerPoint</Application>
  <PresentationFormat>On-screen Show (16:9)</PresentationFormat>
  <Paragraphs>196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CineMatch - Hybrid Movie Recommendation System</dc:title>
  <dc:subject>PptxGenJS Presentation</dc:subject>
  <dc:creator>PptxGenJS</dc:creator>
  <cp:lastModifiedBy>Aryama Sharma</cp:lastModifiedBy>
  <cp:revision>2</cp:revision>
  <dcterms:created xsi:type="dcterms:W3CDTF">2026-04-07T00:50:47Z</dcterms:created>
  <dcterms:modified xsi:type="dcterms:W3CDTF">2026-04-07T00:56:52Z</dcterms:modified>
</cp:coreProperties>
</file>